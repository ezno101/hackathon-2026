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3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67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kern="0" spc="200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HACKATHON · TOKAMAK COMPASS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430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COMPASS 2026</a:t>
            </a:r>
            <a:endParaRPr lang="en-US" sz="5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Tvar plazmatu z jednoho snímku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075940"/>
            <a:ext cx="981075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 jediného snímku kamery určíme 31 parametrů plazmatu. Režim limiter/divertor poznáme s přesností </a:t>
            </a:r>
            <a:r>
              <a:rPr lang="en-US" sz="1900" b="1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96,3 %</a:t>
            </a:r>
            <a:r>
              <a:rPr lang="en-US" sz="19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 model odpovídá za jednotky milisekund.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Problém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94334" y="1562100"/>
            <a:ext cx="10794238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Cíl: tvar, poloha a režim plazmatu v tokamaku COMPASS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Vstup: jediný snímek kamery Photron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Výstup: magnetická osa, elongace, triangularita, X-body, strike pointy…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Dvě režimy: limiter a divertor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Chceme odpověď v milisekundách, ne po dlouhém výpočtu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Řešení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635760"/>
          </a:xfrm>
          <a:prstGeom prst="roundRect">
            <a:avLst>
              <a:gd name="adj" fmla="val 601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4" name="Text 2"/>
          <p:cNvSpPr/>
          <p:nvPr/>
        </p:nvSpPr>
        <p:spPr>
          <a:xfrm>
            <a:off x="1047750" y="1799589"/>
            <a:ext cx="30042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Obrazový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162811"/>
            <a:ext cx="30042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ResNet18 + jednoduché regresní modely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731770"/>
            <a:ext cx="30042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Image-only vstup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1567814"/>
            <a:ext cx="3380317" cy="1635760"/>
          </a:xfrm>
          <a:prstGeom prst="roundRect">
            <a:avLst>
              <a:gd name="adj" fmla="val 601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8" name="Text 6"/>
          <p:cNvSpPr/>
          <p:nvPr/>
        </p:nvSpPr>
        <p:spPr>
          <a:xfrm>
            <a:off x="4637617" y="1799589"/>
            <a:ext cx="30042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7617" y="2162811"/>
            <a:ext cx="30042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FastAPI, bezstavové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7617" y="2491739"/>
            <a:ext cx="30042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obrázek → 31 hodnot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708" y="1567814"/>
            <a:ext cx="3380317" cy="1635760"/>
          </a:xfrm>
          <a:prstGeom prst="roundRect">
            <a:avLst>
              <a:gd name="adj" fmla="val 601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2" name="Text 10"/>
          <p:cNvSpPr/>
          <p:nvPr/>
        </p:nvSpPr>
        <p:spPr>
          <a:xfrm>
            <a:off x="8227483" y="1799589"/>
            <a:ext cx="300427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7483" y="2162811"/>
            <a:ext cx="300427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React, tmavý technický design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a párování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94334" y="1564639"/>
            <a:ext cx="1079423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Zdroj: CSV a Photron camera data z COMPASSu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Snímek se páruje s equilibrium cíli podle výboje a času</a:t>
            </a:r>
            <a:endParaRPr lang="en-US" sz="1800" dirty="0"/>
          </a:p>
          <a:p>
            <a:pPr marL="172466" indent="-1724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Dělení po celých výbojích, žádný výboj není v tréninku i testu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977514"/>
            <a:ext cx="3380317" cy="1431290"/>
          </a:xfrm>
          <a:prstGeom prst="roundRect">
            <a:avLst>
              <a:gd name="adj" fmla="val 687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5" name="Text 3"/>
          <p:cNvSpPr/>
          <p:nvPr/>
        </p:nvSpPr>
        <p:spPr>
          <a:xfrm>
            <a:off x="1073150" y="3234689"/>
            <a:ext cx="295194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67 590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73150" y="3902711"/>
            <a:ext cx="295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trénink · 48 výbojů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5842" y="2977514"/>
            <a:ext cx="3380317" cy="1431290"/>
          </a:xfrm>
          <a:prstGeom prst="roundRect">
            <a:avLst>
              <a:gd name="adj" fmla="val 687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8" name="Text 6"/>
          <p:cNvSpPr/>
          <p:nvPr/>
        </p:nvSpPr>
        <p:spPr>
          <a:xfrm>
            <a:off x="4663017" y="3234689"/>
            <a:ext cx="295194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16 103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63017" y="3902711"/>
            <a:ext cx="295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validace · 9 výbojů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5708" y="2977514"/>
            <a:ext cx="3380317" cy="1431290"/>
          </a:xfrm>
          <a:prstGeom prst="roundRect">
            <a:avLst>
              <a:gd name="adj" fmla="val 687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11" name="Text 9"/>
          <p:cNvSpPr/>
          <p:nvPr/>
        </p:nvSpPr>
        <p:spPr>
          <a:xfrm>
            <a:off x="8252883" y="3234689"/>
            <a:ext cx="295194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32 444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52883" y="3902711"/>
            <a:ext cx="295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· 30 výbojů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Frontend: dva režimy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1724660"/>
          </a:xfrm>
          <a:prstGeom prst="roundRect">
            <a:avLst>
              <a:gd name="adj" fmla="val 570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4" name="Text 2"/>
          <p:cNvSpPr/>
          <p:nvPr/>
        </p:nvSpPr>
        <p:spPr>
          <a:xfrm>
            <a:off x="1047750" y="1799589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162811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Procházení naměřených výbojů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2491739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Fotografie, časové řady, tabulky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2820671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Skutečné hodnoty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567814"/>
            <a:ext cx="5175250" cy="1724660"/>
          </a:xfrm>
          <a:prstGeom prst="roundRect">
            <a:avLst>
              <a:gd name="adj" fmla="val 570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9" name="Text 7"/>
          <p:cNvSpPr/>
          <p:nvPr/>
        </p:nvSpPr>
        <p:spPr>
          <a:xfrm>
            <a:off x="6432550" y="1799589"/>
            <a:ext cx="485305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Predikce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32550" y="2162811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Nahrání snímku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32550" y="2491739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 predikovaných hodnot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2550" y="2820671"/>
            <a:ext cx="4853051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Výsledky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464879"/>
              </p:ext>
            </p:extLst>
          </p:nvPr>
        </p:nvGraphicFramePr>
        <p:xfrm>
          <a:off x="819150" y="1568450"/>
          <a:ext cx="7255592" cy="3759878"/>
        </p:xfrm>
        <a:graphic>
          <a:graphicData uri="http://schemas.openxmlformats.org/drawingml/2006/table">
            <a:tbl>
              <a:tblPr/>
              <a:tblGrid>
                <a:gridCol w="3627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7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 err="1">
                          <a:solidFill>
                            <a:srgbClr val="8FA3B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Metrika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 err="1">
                          <a:solidFill>
                            <a:srgbClr val="8FA3B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Hodnota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2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AUC (jak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dobře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dokáže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model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rozlišovat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a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řadit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objekty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do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dvou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kategorií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.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Divertované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/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Limitované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)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0,988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114673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MAE (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průměrná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absolutní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chyba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)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0.01358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879382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MSE (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průměrná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druhá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mocnina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chyby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)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0.001044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7061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RMSE (</a:t>
                      </a: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odmocnina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z MSE)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accent2"/>
                          </a:solidFill>
                          <a:latin typeface="Helvetica" charset="0"/>
                          <a:ea typeface="Helvetica" charset="0"/>
                          <a:cs typeface="Helvetica" charset="0"/>
                        </a:rPr>
                        <a:t>0.02072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708896"/>
                  </a:ext>
                </a:extLst>
              </a:tr>
              <a:tr h="5087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 err="1">
                          <a:latin typeface="Helvetica" charset="0"/>
                          <a:ea typeface="Helvetica" charset="0"/>
                          <a:cs typeface="Helvetica" charset="0"/>
                        </a:rPr>
                        <a:t>Přesnost</a:t>
                      </a:r>
                      <a:r>
                        <a:rPr lang="en-US" sz="1600" dirty="0">
                          <a:latin typeface="Helvetica" charset="0"/>
                          <a:ea typeface="Helvetica" charset="0"/>
                          <a:cs typeface="Helvetica" charset="0"/>
                        </a:rPr>
                        <a:t> </a:t>
                      </a: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DE8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96,3 %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5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11538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96,3 % je přesnost určení režimu, ne přesnost všech 31 parametrů. Regrese je u části parametrů z jednoho snímku </a:t>
            </a:r>
            <a:r>
              <a:rPr lang="en-US" sz="1500" dirty="0" err="1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obtížnější</a:t>
            </a:r>
            <a:r>
              <a:rPr lang="en-US" sz="15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</a:p>
          <a:p>
            <a:pPr marL="0" indent="0" algn="l">
              <a:lnSpc>
                <a:spcPts val="2100"/>
              </a:lnSpc>
              <a:buNone/>
            </a:pP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40E2F3-EAA3-36C7-DF06-2DBE730F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12" y="1568450"/>
            <a:ext cx="2764255" cy="37001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6ED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Výkon a nasazení</a:t>
            </a:r>
            <a:r>
              <a:rPr lang="en-US" sz="3200" b="1" i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5175250" cy="1431290"/>
          </a:xfrm>
          <a:prstGeom prst="roundRect">
            <a:avLst>
              <a:gd name="adj" fmla="val 687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4" name="Text 2"/>
          <p:cNvSpPr/>
          <p:nvPr/>
        </p:nvSpPr>
        <p:spPr>
          <a:xfrm>
            <a:off x="1073150" y="1824989"/>
            <a:ext cx="4800727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6,5–8 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73150" y="2493011"/>
            <a:ext cx="4800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Apple Silicon, lokálně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4"/>
            <a:ext cx="5175250" cy="1431290"/>
          </a:xfrm>
          <a:prstGeom prst="roundRect">
            <a:avLst>
              <a:gd name="adj" fmla="val 6877"/>
            </a:avLst>
          </a:prstGeom>
          <a:solidFill>
            <a:srgbClr val="131C2E"/>
          </a:solidFill>
          <a:ln w="6350">
            <a:solidFill>
              <a:srgbClr val="22314D"/>
            </a:solidFill>
            <a:prstDash val="solid"/>
          </a:ln>
        </p:spPr>
        <p:txBody>
          <a:bodyPr/>
          <a:lstStyle/>
          <a:p>
            <a:endParaRPr lang="en-CZ"/>
          </a:p>
        </p:txBody>
      </p:sp>
      <p:sp>
        <p:nvSpPr>
          <p:cNvPr id="7" name="Text 5"/>
          <p:cNvSpPr/>
          <p:nvPr/>
        </p:nvSpPr>
        <p:spPr>
          <a:xfrm>
            <a:off x="6457950" y="1824989"/>
            <a:ext cx="4800727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4ADE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14–30 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57950" y="2493011"/>
            <a:ext cx="48007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CPU container, na snímek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-6464865" y="3566087"/>
            <a:ext cx="1079423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466" indent="-172466" algn="l">
              <a:lnSpc>
                <a:spcPts val="2700"/>
              </a:lnSpc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creen Recording 2026-10-24 at 4.56.23">
            <a:hlinkClick r:id="" action="ppaction://media"/>
            <a:extLst>
              <a:ext uri="{FF2B5EF4-FFF2-40B4-BE49-F238E27FC236}">
                <a16:creationId xmlns:a16="http://schemas.microsoft.com/office/drawing/2014/main" id="{99AC783F-CB75-0B9D-68A8-2E99AD5F02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075" y="0"/>
            <a:ext cx="12007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6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1092-4C2B-8F0E-E882-A3186146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Dodatečné informace</a:t>
            </a:r>
            <a:r>
              <a:rPr lang="en-CZ" dirty="0">
                <a:solidFill>
                  <a:schemeClr val="accent3"/>
                </a:solidFill>
              </a:rPr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C5F01-6372-FE49-22E7-9CC6A18C1AF2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812800" y="1564639"/>
            <a:ext cx="10566400" cy="4799289"/>
          </a:xfrm>
        </p:spPr>
        <p:txBody>
          <a:bodyPr/>
          <a:lstStyle/>
          <a:p>
            <a:r>
              <a:rPr lang="en-CZ" b="1" dirty="0"/>
              <a:t>Omezenost</a:t>
            </a:r>
            <a:r>
              <a:rPr lang="en-CZ" dirty="0"/>
              <a:t>: Vzhledem k omezenému množství dat model je velmi citlivý na barvy fotografií</a:t>
            </a:r>
          </a:p>
          <a:p>
            <a:endParaRPr lang="en-CZ" dirty="0"/>
          </a:p>
          <a:p>
            <a:r>
              <a:rPr lang="en-CZ" b="1" dirty="0"/>
              <a:t>ResNet18</a:t>
            </a:r>
            <a:r>
              <a:rPr lang="en-CZ" dirty="0"/>
              <a:t> - reziduální neuronová síť s 18 vrstvami a zkratkami mezi vrstvami. Je předtrénovaná na ImageNetu, 	takže už umí rozpoznávat obecné vizuální vzory, jako jsou hrany, tvary a textury. ResNet18 tedy 	nepoužíváme jako klasifikátor, ale jako extraktor příznaků: z každého snímku vytvoří vektor 512 čísel, který 	stručně popisuje vizuální obsah obrázku. </a:t>
            </a:r>
          </a:p>
          <a:p>
            <a:endParaRPr lang="en-CZ" dirty="0"/>
          </a:p>
          <a:p>
            <a:r>
              <a:rPr lang="en-CZ" b="1" dirty="0"/>
              <a:t>Klasifikátor - logistickou regresi </a:t>
            </a:r>
            <a:r>
              <a:rPr lang="en-CZ" dirty="0"/>
              <a:t>– který rozhoduje, jestli je plazma v limiterovém, nebo divertorovém režimu. Ten 	    vrací pravděpodobnost a podle prahu 0,5 určí výsledný režim. </a:t>
            </a:r>
          </a:p>
          <a:p>
            <a:r>
              <a:rPr lang="en-CZ" dirty="0"/>
              <a:t>	</a:t>
            </a:r>
          </a:p>
          <a:p>
            <a:r>
              <a:rPr lang="en-CZ" dirty="0"/>
              <a:t>Model jsme trénovali na 116 tisících snímcích z 78 výbojů. Rozdělení jsme dělali po celých výbojích, ne po 	jednotlivých snímcích, aby nedošlo k úniku dat. Testovací sada má 32 444 snímků z 30 výbojů, které model 	během tréninku nikdy neviděl.</a:t>
            </a:r>
          </a:p>
          <a:p>
            <a:endParaRPr lang="en-CZ" dirty="0"/>
          </a:p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648130924"/>
      </p:ext>
    </p:extLst>
  </p:cSld>
  <p:clrMapOvr>
    <a:masterClrMapping/>
  </p:clrMapOvr>
</p:sld>
</file>

<file path=ppt/theme/theme1.xml><?xml version="1.0" encoding="utf-8"?>
<a:theme xmlns:a="http://schemas.openxmlformats.org/drawingml/2006/main" name="COMPASS 2026 – Tvar plazmatu z jednoho snímku">
  <a:themeElements>
    <a:clrScheme name="COMPASS 2026 – Tvar plazmatu z jednoho snímku">
      <a:dk1>
        <a:srgbClr val="0B1220"/>
      </a:dk1>
      <a:lt1>
        <a:srgbClr val="E6EDF6"/>
      </a:lt1>
      <a:dk2>
        <a:srgbClr val="212835"/>
      </a:dk2>
      <a:lt2>
        <a:srgbClr val="AFB6C1"/>
      </a:lt2>
      <a:accent1>
        <a:srgbClr val="8FA3BD"/>
      </a:accent1>
      <a:accent2>
        <a:srgbClr val="4ADE80"/>
      </a:accent2>
      <a:accent3>
        <a:srgbClr val="22D3EE"/>
      </a:accent3>
      <a:accent4>
        <a:srgbClr val="9AA0A6"/>
      </a:accent4>
      <a:accent5>
        <a:srgbClr val="8E95A0"/>
      </a:accent5>
      <a:accent6>
        <a:srgbClr val="6E7580"/>
      </a:accent6>
      <a:hlink>
        <a:srgbClr val="0563C1"/>
      </a:hlink>
      <a:folHlink>
        <a:srgbClr val="954F72"/>
      </a:folHlink>
    </a:clrScheme>
    <a:fontScheme name="COMPASS 2026 – Tvar plazmatu z jednoho snímku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441</Words>
  <Application>Microsoft Macintosh PowerPoint</Application>
  <PresentationFormat>Widescreen</PresentationFormat>
  <Paragraphs>71</Paragraphs>
  <Slides>9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Helvetica</vt:lpstr>
      <vt:lpstr>COMPASS 2026 – Tvar plazmatu z jednoho snímku</vt:lpstr>
      <vt:lpstr>COMPASS 2026 Tvar plazmatu z jednoho snímku</vt:lpstr>
      <vt:lpstr>Problém.</vt:lpstr>
      <vt:lpstr>Řešení.</vt:lpstr>
      <vt:lpstr>Data a párování.</vt:lpstr>
      <vt:lpstr>Frontend: dva režimy.</vt:lpstr>
      <vt:lpstr>Výsledky.</vt:lpstr>
      <vt:lpstr>Výkon a nasazení.</vt:lpstr>
      <vt:lpstr>PowerPoint Presentation</vt:lpstr>
      <vt:lpstr>Dodatečné informace.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 2026 – Tvar plazmatu z jednoho snímku</dc:title>
  <dc:subject/>
  <dc:creator/>
  <cp:lastModifiedBy>Procházka Karel</cp:lastModifiedBy>
  <cp:revision>6</cp:revision>
  <dcterms:created xsi:type="dcterms:W3CDTF">2026-10-24T02:55:10Z</dcterms:created>
  <dcterms:modified xsi:type="dcterms:W3CDTF">2026-10-24T10:39:18Z</dcterms:modified>
</cp:coreProperties>
</file>