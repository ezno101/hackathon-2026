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Rekonstrukce tvaru plazmatu</a:t>
            </a:r>
            <a:br/>
            <a:r>
              <a:t>na tokamaku COMPASS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611880"/>
            <a:ext cx="201168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D8E6F3"/>
                </a:solidFill>
                <a:latin typeface="Arial"/>
              </a:defRPr>
            </a:pPr>
            <a:r>
              <a:t>Z magnetických diagnostik (a volitelně z kamery)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8E6F3"/>
                </a:solidFill>
                <a:latin typeface="Arial"/>
              </a:defRPr>
            </a:pPr>
            <a:r>
              <a:t>Hackathon 2026 · Děčín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Cíl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Z 24 magnetických signálů (IPR01–16, FL01–08) předpovědět: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•  10 parametrů tvaru a polohy plazmatu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•  X-point a 2 strike points (jen diverted plazma)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•  bod kontaktu s limiterem (R, Z) (jen limited plazma)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•  binární režim is_limited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977639"/>
          <a:ext cx="108813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863840"/>
              </a:tblGrid>
              <a:tr h="43891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Rozsah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equil_data.csv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42 972 řádků · 149 výbojů · 57 sloupců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camera_data.csv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116 142 snímků · 78 výbojů · 640×500 RGB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532120"/>
            <a:ext cx="10881360" cy="50292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24 příznaků  →  18 cílových veličin  +  binární režim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Fyzika dat: limited vs diverted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840480"/>
                <a:gridCol w="3474720"/>
              </a:tblGrid>
              <a:tr h="47548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Režim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 plazma dělá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Vyplněné cíle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limited (is_limited=True)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dotýká se limiteru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R_limiter, Z_limiter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diverted (is_limited=False)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má X-point, jde na divertor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X-point + strike points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0632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Chybějící hodnoty nejsou chyba dat — jsou fyzikální.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Limited: 19 012 řádků · diverted: 23 960 řádků.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Strike points = místa, kde magnetické čáry z X-pointu dopadají na stěnu.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R_strike_point_1 &lt; R_strike_point_2 (ověřeno na 100 % řádků).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Limiter: jeden bod, dvě souřadnice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852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R_limiter = radiální souřadnice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Z_limiter = vertikální souřadnice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Není to „levý a pravý limiter“ — je to jedna kontaktní pointa (R, Z).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73,4 % hodnot R_limiter je 0,347 m → vnitřní prstenec.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Zbytek tvoří jiné body stěny (R až 0,771 m).</a:t>
            </a:r>
          </a:p>
        </p:txBody>
      </p:sp>
      <p:pic>
        <p:nvPicPr>
          <p:cNvPr id="7" name="Picture 6" descr="limiter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25880"/>
            <a:ext cx="4754880" cy="41438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257800"/>
            <a:ext cx="5852160" cy="6400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NaN = plazma se limiteru vůbec nedotýká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Metodika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F4E79"/>
                </a:solidFill>
                <a:latin typeface="Arial"/>
              </a:defRPr>
            </a:pPr>
            <a:r>
              <a:t>Rozdělení 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Podle výbojů, ne po řádcích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119 výbojů train / 30 výbojů test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33 902 / 9 070 řádků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time a discharge nejsou příznaky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Kanonikalizace strike points podle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F4E79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StandardScaler + MLP 128×128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Standardizace cílových veličin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GroupKFold(5) podle výbojů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Pevné rozdělení pro finální metriky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Stejná architektura pro všechny skupiny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57800"/>
            <a:ext cx="1088136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Bez úniku dat: žádný výboj není současně v train i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Výsledky: tvar a poloha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55778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645920"/>
              </a:tblGrid>
              <a:tr h="34747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Cíl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R²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R_mag_axis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0,34 mm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0,985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Z_mag_axis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0,43 mm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0,995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elongation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0,0058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0,998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0,50 mm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0,992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plasma_current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1 021 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0,9996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4173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B6B7B"/>
                </a:solidFill>
                <a:latin typeface="Arial"/>
              </a:defRPr>
            </a:pPr>
            <a:r>
              <a:t>GroupKFold(5):</a:t>
            </a:r>
            <a:br/>
            <a:r>
              <a:t>R 0,61 ± 0,19 mm</a:t>
            </a:r>
            <a:br/>
            <a:r>
              <a:t>Z 0,70 ± 0,16 mm</a:t>
            </a:r>
          </a:p>
        </p:txBody>
      </p:sp>
      <p:pic>
        <p:nvPicPr>
          <p:cNvPr id="8" name="Picture 7" descr="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611880"/>
            <a:ext cx="8229600" cy="27258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X-point a strike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749808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920240"/>
                <a:gridCol w="2103120"/>
              </a:tblGrid>
              <a:tr h="40233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Cíl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R²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R_x_point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0,24 mm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0,9965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Z_x_point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0,27 mm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0,9972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R_strike_point_1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0,30 mm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0,9980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Z_strike_point_1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0,13 mm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0,9972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R_strike_point_2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0,25 mm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0,9953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Z_strike_point_2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0,06 mm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0,9886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920240"/>
            <a:ext cx="3017520" cy="1371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FFFFFF"/>
                </a:solidFill>
                <a:latin typeface="Arial"/>
              </a:defRPr>
            </a:pPr>
            <a:r>
              <a:t>R² &gt; 0,988</a:t>
            </a:r>
            <a:br/>
            <a:r>
              <a:t>pro všech 6 cílů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56616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B"/>
                </a:solidFill>
                <a:latin typeface="Arial"/>
              </a:defRPr>
            </a:pPr>
            <a:r>
              <a:t>5 438 diverted řádků</a:t>
            </a:r>
            <a:br/>
            <a:r>
              <a:t>testovacích výbojů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Klasifikace režimu is_limited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5B6B7B"/>
                </a:solidFill>
                <a:latin typeface="Arial"/>
              </a:defRPr>
            </a:pPr>
            <a:r>
              <a:t>MLP klasifikátor na stejných 24 magnetických příznacích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291840" cy="123444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99,1 %</a:t>
            </a:r>
            <a:br/>
            <a: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40280"/>
            <a:ext cx="3291840" cy="12344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0,9996</a:t>
            </a:r>
            <a:br/>
            <a:r>
              <a:t>ROC-AUC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240280"/>
            <a:ext cx="3291840" cy="12344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0,989</a:t>
            </a:r>
            <a:br/>
            <a: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Balanced accuracy: 99,1 %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Režim je z magnetických signálů prakticky dokonale rozlišitelný.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Dává smysl použít ho jako první stupeň před regresí limiteru.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Limiter: dvoustupňový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1. Klasifikátor: inner (R ≤ 0,35) vs other.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2. Inner: R = 0,347 (konstanta) + model pro Z.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3. Other: samostatné modely pro R a Z.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337560"/>
          <a:ext cx="57607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371600"/>
                <a:gridCol w="1371600"/>
              </a:tblGrid>
              <a:tr h="43891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Cíl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Two-stage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Změna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R_limiter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16,2 mm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8,0 mm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−50,4 %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Z_limiter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22,8 mm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15,0 mm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−34,2 %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limiter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4846320" cy="26816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257800"/>
            <a:ext cx="576072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GroupKFold(5), MAE v mm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Negativní výsledek: mode jako příznak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5B6B7B"/>
                </a:solidFill>
                <a:latin typeface="Arial"/>
              </a:defRPr>
            </a:pPr>
            <a:r>
              <a:t>Přidání one-hot mode (L/H/ELM) z kamery k magnetickým příznakům: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28600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394960"/>
              </a:tblGrid>
              <a:tr h="5029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Vyhodnocení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Změna průměrného MAE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Jedno pevné rozdělení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−5,2 % (zdánlivý zisk)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GroupKFold(5)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B2A38"/>
                          </a:solidFill>
                          <a:latin typeface="Arial"/>
                        </a:defRPr>
                      </a:pPr>
                      <a:r>
                        <a:t>+4,2 % (zhoršení)</a:t>
                      </a:r>
                    </a:p>
                  </a:txBody>
                  <a:tcPr marL="73152" marR="73152" marT="18288" marB="18288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2062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Signál je nestabilní → model se přeučuje na konkrétní výboje.</a:t>
            </a:r>
          </a:p>
          <a:p>
            <a:pPr>
              <a:spcAft>
                <a:spcPts val="700"/>
              </a:spcAft>
              <a:defRPr sz="1900">
                <a:solidFill>
                  <a:srgbClr val="1B2A38"/>
                </a:solidFill>
                <a:latin typeface="Arial"/>
              </a:defRPr>
            </a:pPr>
            <a:r>
              <a:t>mode není ve finálním modelu.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86400"/>
            <a:ext cx="10881360" cy="54864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Kamera zůstává jen pro analýzu režimu, ne jako příznak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Rychlost a omezení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A9D8F"/>
                </a:solidFill>
                <a:latin typeface="Arial"/>
              </a:defRPr>
            </a:pPr>
            <a:r>
              <a:t>Rychlost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Trénink všech modelů: ~13 s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Infernce všech modelů: ~1,5 ms / vzorek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Vhodné pro real-time řízení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E76F51"/>
                </a:solidFill>
                <a:latin typeface="Arial"/>
              </a:defRPr>
            </a:pPr>
            <a:r>
              <a:t>Omezení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Jedna architektura (MLP), bez ladění hyperparametrů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Jen magnetické příznaky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R_limiter R² ~0,68 je důsledek konstantní predikce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Testováno na 30 výbojích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57800"/>
            <a:ext cx="10881360" cy="6400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~1,5 ms na vzorek  →  použitelné v reálném čase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Arial"/>
              </a:defRPr>
            </a:pPr>
            <a:r>
              <a:t>Závěry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058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B7B"/>
                </a:solidFill>
                <a:latin typeface="Arial"/>
              </a:defRPr>
            </a:pPr>
            <a:r>
              <a:t>COMPASS · Hackathon 2026 · Děčín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B6B7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Tvar a poloha: R² 0,985–0,9996, chyba centra &lt; 0,5 mm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X-point / strike points: R² &gt; 0,988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Režim: accuracy 99,1 %, ROC-AUC 0,9996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Limiter: dvoustupňový přístup snížil MAE o 34–50 %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Latence ~1,5 ms → použitelné v reálném čase</a:t>
            </a:r>
          </a:p>
          <a:p>
            <a:pPr>
              <a:spcAft>
                <a:spcPts val="700"/>
              </a:spcAft>
              <a:defRPr sz="1800">
                <a:solidFill>
                  <a:srgbClr val="1B2A38"/>
                </a:solidFill>
                <a:latin typeface="Arial"/>
              </a:defRPr>
            </a:pPr>
            <a:r>
              <a:t>mode jako příznak se neosvědčil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37160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F4E79"/>
                </a:solidFill>
                <a:latin typeface="Arial"/>
              </a:defRPr>
            </a:pPr>
            <a:r>
              <a:t>Další kroky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74519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A38"/>
                </a:solidFill>
                <a:latin typeface="Arial"/>
              </a:defRPr>
            </a:pPr>
            <a:r>
              <a:t>1. Odolnost proti šumu</a:t>
            </a:r>
          </a:p>
          <a:p>
            <a:pPr>
              <a:spcAft>
                <a:spcPts val="700"/>
              </a:spcAft>
              <a:defRPr sz="1700">
                <a:solidFill>
                  <a:srgbClr val="1B2A38"/>
                </a:solidFill>
                <a:latin typeface="Arial"/>
              </a:defRPr>
            </a:pPr>
            <a:r>
              <a:t>2. Camera CNN</a:t>
            </a:r>
          </a:p>
          <a:p>
            <a:pPr>
              <a:spcAft>
                <a:spcPts val="700"/>
              </a:spcAft>
              <a:defRPr sz="1700">
                <a:solidFill>
                  <a:srgbClr val="1B2A38"/>
                </a:solidFill>
                <a:latin typeface="Arial"/>
              </a:defRPr>
            </a:pPr>
            <a:r>
              <a:t>3. Multimodální fúze</a:t>
            </a:r>
          </a:p>
          <a:p>
            <a:pPr>
              <a:spcAft>
                <a:spcPts val="700"/>
              </a:spcAft>
              <a:defRPr sz="1700">
                <a:solidFill>
                  <a:srgbClr val="1B2A38"/>
                </a:solidFill>
                <a:latin typeface="Arial"/>
              </a:defRPr>
            </a:pPr>
            <a:r>
              <a:t>4. Více výbojů pro validaci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5257800"/>
            <a:ext cx="3931920" cy="73152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Sešity + tato prezentace</a:t>
            </a:r>
            <a:br/>
            <a:r>
              <a:t>jsou hotové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